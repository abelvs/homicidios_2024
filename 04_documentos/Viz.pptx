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99" autoAdjust="0"/>
    <p:restoredTop sz="94660"/>
  </p:normalViewPr>
  <p:slideViewPr>
    <p:cSldViewPr snapToGrid="0">
      <p:cViewPr>
        <p:scale>
          <a:sx n="75" d="100"/>
          <a:sy n="75" d="100"/>
        </p:scale>
        <p:origin x="217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505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79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316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74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552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999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38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028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5026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096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589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610E-FD05-4E58-8255-63A17B7F2A40}" type="datetimeFigureOut">
              <a:rPr lang="es-MX" smtClean="0"/>
              <a:t>15/12/2025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51568-16EF-49E4-973D-044D833CD2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889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326" y="681524"/>
            <a:ext cx="7305674" cy="584454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82" y="532130"/>
            <a:ext cx="4587240" cy="229362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03560" y="94247"/>
            <a:ext cx="495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>
                <a:latin typeface="Arial Narrow" panose="020B0606020202030204" pitchFamily="34" charset="0"/>
              </a:rPr>
              <a:t>Registros sin información</a:t>
            </a:r>
            <a:endParaRPr lang="es-MX" b="1" dirty="0">
              <a:latin typeface="Arial Narrow" panose="020B060602020203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3560" y="2894301"/>
            <a:ext cx="445806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000" dirty="0" smtClean="0">
                <a:latin typeface="Arial Narrow" panose="020B0606020202030204" pitchFamily="34" charset="0"/>
              </a:rPr>
              <a:t>Una proporción significativa de los registros de homicidios </a:t>
            </a:r>
            <a:r>
              <a:rPr lang="es-MX" sz="1000" b="1" dirty="0" smtClean="0">
                <a:latin typeface="Arial Narrow" panose="020B0606020202030204" pitchFamily="34" charset="0"/>
              </a:rPr>
              <a:t>carece de información en categorías clave</a:t>
            </a:r>
            <a:r>
              <a:rPr lang="es-MX" sz="1000" dirty="0" smtClean="0">
                <a:latin typeface="Arial Narrow" panose="020B0606020202030204" pitchFamily="34" charset="0"/>
              </a:rPr>
              <a:t>, lo que limita el análisis detallado y la toma de decisiones fundamentadas. En particular, </a:t>
            </a:r>
            <a:r>
              <a:rPr lang="es-MX" sz="1000" b="1" dirty="0" smtClean="0">
                <a:latin typeface="Arial Narrow" panose="020B0606020202030204" pitchFamily="34" charset="0"/>
              </a:rPr>
              <a:t>el 99.2% de los registros no indica el parentesco entre agresor y víctima</a:t>
            </a:r>
            <a:r>
              <a:rPr lang="es-MX" sz="1000" dirty="0" smtClean="0">
                <a:latin typeface="Arial Narrow" panose="020B0606020202030204" pitchFamily="34" charset="0"/>
              </a:rPr>
              <a:t>, un dato esencial para comprender la violencia intrafamiliar y diseñar políticas de prevención adecuadas. Además, el </a:t>
            </a:r>
            <a:r>
              <a:rPr lang="es-MX" sz="1000" b="1" dirty="0" smtClean="0">
                <a:latin typeface="Arial Narrow" panose="020B0606020202030204" pitchFamily="34" charset="0"/>
              </a:rPr>
              <a:t>42.1% omite si los hechos ocurrieron en el lugar de trabajo</a:t>
            </a:r>
            <a:r>
              <a:rPr lang="es-MX" sz="1000" dirty="0" smtClean="0">
                <a:latin typeface="Arial Narrow" panose="020B0606020202030204" pitchFamily="34" charset="0"/>
              </a:rPr>
              <a:t>, mientras que variables </a:t>
            </a:r>
            <a:r>
              <a:rPr lang="es-MX" sz="1000" dirty="0" smtClean="0">
                <a:latin typeface="Arial Narrow" panose="020B0606020202030204" pitchFamily="34" charset="0"/>
              </a:rPr>
              <a:t>básicas, </a:t>
            </a:r>
            <a:r>
              <a:rPr lang="es-MX" sz="1000" dirty="0" smtClean="0">
                <a:latin typeface="Arial Narrow" panose="020B0606020202030204" pitchFamily="34" charset="0"/>
              </a:rPr>
              <a:t>como la </a:t>
            </a:r>
            <a:r>
              <a:rPr lang="es-MX" sz="1000" b="1" dirty="0" smtClean="0">
                <a:latin typeface="Arial Narrow" panose="020B0606020202030204" pitchFamily="34" charset="0"/>
              </a:rPr>
              <a:t>edad de la víctima y la causa de defunción, faltan en 8.5% y 8.2% de los </a:t>
            </a:r>
            <a:r>
              <a:rPr lang="es-MX" sz="1000" b="1" dirty="0" smtClean="0">
                <a:latin typeface="Arial Narrow" panose="020B0606020202030204" pitchFamily="34" charset="0"/>
              </a:rPr>
              <a:t>casos</a:t>
            </a:r>
            <a:r>
              <a:rPr lang="es-MX" sz="1000" dirty="0" smtClean="0">
                <a:latin typeface="Arial Narrow" panose="020B0606020202030204" pitchFamily="34" charset="0"/>
              </a:rPr>
              <a:t>.</a:t>
            </a:r>
            <a:endParaRPr lang="es-MX" sz="1000" dirty="0" smtClean="0">
              <a:latin typeface="Arial Narrow" panose="020B0606020202030204" pitchFamily="34" charset="0"/>
            </a:endParaRPr>
          </a:p>
          <a:p>
            <a:pPr algn="just"/>
            <a:endParaRPr lang="es-MX" sz="1000" dirty="0">
              <a:latin typeface="Arial Narrow" panose="020B0606020202030204" pitchFamily="34" charset="0"/>
            </a:endParaRPr>
          </a:p>
          <a:p>
            <a:pPr algn="just"/>
            <a:r>
              <a:rPr lang="es-MX" sz="1000" dirty="0" smtClean="0">
                <a:latin typeface="Arial Narrow" panose="020B0606020202030204" pitchFamily="34" charset="0"/>
              </a:rPr>
              <a:t>A nivel estatal, </a:t>
            </a:r>
            <a:r>
              <a:rPr lang="es-MX" sz="1000" b="1" dirty="0" smtClean="0">
                <a:latin typeface="Arial Narrow" panose="020B0606020202030204" pitchFamily="34" charset="0"/>
              </a:rPr>
              <a:t>Sinaloa presenta el mayor promedio de registros incompletos</a:t>
            </a:r>
            <a:r>
              <a:rPr lang="es-MX" sz="1000" dirty="0" smtClean="0">
                <a:latin typeface="Arial Narrow" panose="020B0606020202030204" pitchFamily="34" charset="0"/>
              </a:rPr>
              <a:t>, mientras que </a:t>
            </a:r>
            <a:r>
              <a:rPr lang="es-MX" sz="1000" b="1" dirty="0" smtClean="0">
                <a:latin typeface="Arial Narrow" panose="020B0606020202030204" pitchFamily="34" charset="0"/>
              </a:rPr>
              <a:t>Coahuila cuenta con los datos más completos</a:t>
            </a:r>
            <a:r>
              <a:rPr lang="es-MX" sz="1000" dirty="0" smtClean="0">
                <a:latin typeface="Arial Narrow" panose="020B0606020202030204" pitchFamily="34" charset="0"/>
              </a:rPr>
              <a:t>, reflejando diferencias importantes en la calidad de la información. Es particularmente urgente subsanar los vacíos</a:t>
            </a:r>
            <a:r>
              <a:rPr lang="es-MX" sz="1000" b="1" dirty="0" smtClean="0">
                <a:latin typeface="Arial Narrow" panose="020B0606020202030204" pitchFamily="34" charset="0"/>
              </a:rPr>
              <a:t> </a:t>
            </a:r>
            <a:r>
              <a:rPr lang="es-MX" sz="1000" dirty="0" smtClean="0">
                <a:latin typeface="Arial Narrow" panose="020B0606020202030204" pitchFamily="34" charset="0"/>
              </a:rPr>
              <a:t>sobre</a:t>
            </a:r>
            <a:r>
              <a:rPr lang="es-MX" sz="1000" b="1" dirty="0" smtClean="0">
                <a:latin typeface="Arial Narrow" panose="020B0606020202030204" pitchFamily="34" charset="0"/>
              </a:rPr>
              <a:t> condición indígena por auto adscripción en la Ciudad de México</a:t>
            </a:r>
            <a:r>
              <a:rPr lang="es-MX" sz="1000" dirty="0" smtClean="0">
                <a:latin typeface="Arial Narrow" panose="020B0606020202030204" pitchFamily="34" charset="0"/>
              </a:rPr>
              <a:t>, así como sobre lengua </a:t>
            </a:r>
            <a:r>
              <a:rPr lang="es-MX" sz="1000" dirty="0" smtClean="0">
                <a:latin typeface="Arial Narrow" panose="020B0606020202030204" pitchFamily="34" charset="0"/>
              </a:rPr>
              <a:t>en </a:t>
            </a:r>
            <a:r>
              <a:rPr lang="es-MX" sz="1000" b="1" dirty="0" smtClean="0">
                <a:latin typeface="Arial Narrow" panose="020B0606020202030204" pitchFamily="34" charset="0"/>
              </a:rPr>
              <a:t>Puebla y Guerrero</a:t>
            </a:r>
            <a:r>
              <a:rPr lang="es-MX" sz="1000" dirty="0" smtClean="0">
                <a:latin typeface="Arial Narrow" panose="020B0606020202030204" pitchFamily="34" charset="0"/>
              </a:rPr>
              <a:t>, entidades con alta población indígena. De igual manera, es necesario atender </a:t>
            </a:r>
            <a:r>
              <a:rPr lang="es-MX" sz="1000" b="1" dirty="0" smtClean="0">
                <a:latin typeface="Arial Narrow" panose="020B0606020202030204" pitchFamily="34" charset="0"/>
              </a:rPr>
              <a:t>los registros sin información sobre auto adscripción afrodescendiente en CDMX, Guerrero y Quintana Roo</a:t>
            </a:r>
            <a:r>
              <a:rPr lang="es-MX" sz="1000" dirty="0" smtClean="0">
                <a:latin typeface="Arial Narrow" panose="020B0606020202030204" pitchFamily="34" charset="0"/>
              </a:rPr>
              <a:t>, para garantizar que los análisis consideren a todas las poblaciones vulnerables.</a:t>
            </a:r>
          </a:p>
          <a:p>
            <a:pPr algn="just"/>
            <a:endParaRPr lang="es-MX" sz="1000" dirty="0">
              <a:latin typeface="Arial Narrow" panose="020B0606020202030204" pitchFamily="34" charset="0"/>
            </a:endParaRPr>
          </a:p>
          <a:p>
            <a:pPr algn="just"/>
            <a:r>
              <a:rPr lang="es-MX" sz="1000" dirty="0" smtClean="0">
                <a:latin typeface="Arial Narrow" panose="020B0606020202030204" pitchFamily="34" charset="0"/>
              </a:rPr>
              <a:t>Contar con estos datos completos permite generar herramientas más precisas para identificar patrones, factores y causas de homicidios entre poblaciones vulnerables, mejorar la focalización de políticas de prevención y protección, diseñar estrategias más efectivas para reducir la violencia y, en general, fortalecer la capacidad de las autoridades para atender de manera integral la problemática delictiva en distintos contextos sociales.</a:t>
            </a:r>
            <a:endParaRPr lang="es-MX" sz="1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94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68" y="4108736"/>
            <a:ext cx="3524492" cy="251749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12" y="819926"/>
            <a:ext cx="5481352" cy="328881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651" y="611756"/>
            <a:ext cx="4699727" cy="328980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835912" y="3901564"/>
            <a:ext cx="5791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 smtClean="0">
              <a:latin typeface="Arial Narrow" panose="020B0606020202030204" pitchFamily="34" charset="0"/>
            </a:endParaRPr>
          </a:p>
          <a:p>
            <a:pPr algn="just"/>
            <a:r>
              <a:rPr lang="es-MX" sz="1200" dirty="0" smtClean="0">
                <a:latin typeface="Arial Narrow" panose="020B0606020202030204" pitchFamily="34" charset="0"/>
              </a:rPr>
              <a:t>La distribución por edad y sexo de los homicidios en México indica que los grupos de menor edad siguen una dinámica particular. Entre víctimas menores de 10 años, </a:t>
            </a:r>
            <a:r>
              <a:rPr lang="es-MX" sz="1200" b="1" dirty="0" smtClean="0">
                <a:latin typeface="Arial Narrow" panose="020B0606020202030204" pitchFamily="34" charset="0"/>
              </a:rPr>
              <a:t>la proporción de hombres y mujeres es prácticamente equilibrada</a:t>
            </a:r>
            <a:r>
              <a:rPr lang="es-MX" sz="1200" dirty="0" smtClean="0">
                <a:latin typeface="Arial Narrow" panose="020B0606020202030204" pitchFamily="34" charset="0"/>
              </a:rPr>
              <a:t>, a diferencia de los grupos mayores, donde predominan los hombres.</a:t>
            </a:r>
          </a:p>
          <a:p>
            <a:pPr algn="just"/>
            <a:endParaRPr lang="es-MX" sz="1200" dirty="0" smtClean="0">
              <a:latin typeface="Arial Narrow" panose="020B0606020202030204" pitchFamily="34" charset="0"/>
            </a:endParaRPr>
          </a:p>
          <a:p>
            <a:pPr algn="just"/>
            <a:r>
              <a:rPr lang="es-MX" sz="1200" dirty="0" smtClean="0">
                <a:latin typeface="Arial Narrow" panose="020B0606020202030204" pitchFamily="34" charset="0"/>
              </a:rPr>
              <a:t>En las causas de defunción, la </a:t>
            </a:r>
            <a:r>
              <a:rPr lang="es-MX" sz="1200" b="1" dirty="0" smtClean="0">
                <a:latin typeface="Arial Narrow" panose="020B0606020202030204" pitchFamily="34" charset="0"/>
              </a:rPr>
              <a:t>proporción de homicidios por arma de fuego disminuye </a:t>
            </a:r>
            <a:r>
              <a:rPr lang="es-MX" sz="1200" dirty="0" smtClean="0">
                <a:latin typeface="Arial Narrow" panose="020B0606020202030204" pitchFamily="34" charset="0"/>
              </a:rPr>
              <a:t>considerablemente, mientras que arma blanca y fuerza corporal aumentan ligeramente. La categoría “Otros” crece de forma significativa. Sin embargo, gran parte de este aumento corresponde a casos donde </a:t>
            </a:r>
            <a:r>
              <a:rPr lang="es-MX" sz="1200" b="1" dirty="0" smtClean="0">
                <a:latin typeface="Arial Narrow" panose="020B0606020202030204" pitchFamily="34" charset="0"/>
              </a:rPr>
              <a:t>no se especifica el medio empleado</a:t>
            </a:r>
            <a:r>
              <a:rPr lang="es-MX" sz="1200" dirty="0" smtClean="0">
                <a:latin typeface="Arial Narrow" panose="020B0606020202030204" pitchFamily="34" charset="0"/>
              </a:rPr>
              <a:t>, lo que limita el análisis.</a:t>
            </a:r>
          </a:p>
          <a:p>
            <a:pPr algn="just"/>
            <a:endParaRPr lang="es-MX" sz="1200" dirty="0" smtClean="0">
              <a:latin typeface="Arial Narrow" panose="020B0606020202030204" pitchFamily="34" charset="0"/>
            </a:endParaRPr>
          </a:p>
          <a:p>
            <a:pPr algn="just"/>
            <a:r>
              <a:rPr lang="es-MX" sz="1200" dirty="0" smtClean="0">
                <a:latin typeface="Arial Narrow" panose="020B0606020202030204" pitchFamily="34" charset="0"/>
              </a:rPr>
              <a:t>Los datos sugieren que los menores de 10 años requieren estrategias de prevención y atención específicas. No obstante, el </a:t>
            </a:r>
            <a:r>
              <a:rPr lang="es-MX" sz="1200" b="1" dirty="0" smtClean="0">
                <a:latin typeface="Arial Narrow" panose="020B0606020202030204" pitchFamily="34" charset="0"/>
              </a:rPr>
              <a:t>incremento de registros incompletos</a:t>
            </a:r>
            <a:r>
              <a:rPr lang="es-MX" sz="1200" dirty="0" smtClean="0">
                <a:latin typeface="Arial Narrow" panose="020B0606020202030204" pitchFamily="34" charset="0"/>
              </a:rPr>
              <a:t> dificulta la planificación efectiva y evidencia la necesidad de mejorar la información sobre homicidios infantiles.</a:t>
            </a:r>
          </a:p>
          <a:p>
            <a:endParaRPr lang="es-MX" dirty="0" smtClean="0"/>
          </a:p>
          <a:p>
            <a:r>
              <a:rPr lang="es-MX" dirty="0" smtClean="0"/>
              <a:t> </a:t>
            </a:r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303560" y="94247"/>
            <a:ext cx="495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>
                <a:latin typeface="Arial Narrow" panose="020B0606020202030204" pitchFamily="34" charset="0"/>
              </a:rPr>
              <a:t>Grupos de edad y sexo</a:t>
            </a:r>
            <a:endParaRPr lang="es-MX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4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2"/>
          <a:stretch/>
        </p:blipFill>
        <p:spPr>
          <a:xfrm>
            <a:off x="9811657" y="4372453"/>
            <a:ext cx="1878528" cy="208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704" y="4371225"/>
            <a:ext cx="2088000" cy="2088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191" y="4299183"/>
            <a:ext cx="2088000" cy="2088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64" y="4326984"/>
            <a:ext cx="2088000" cy="2088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23" y="564290"/>
            <a:ext cx="4520199" cy="31641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964" y="1172429"/>
            <a:ext cx="3651435" cy="25560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525" y="1172429"/>
            <a:ext cx="3651428" cy="2556000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4154191" y="3855243"/>
            <a:ext cx="1843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GTO: </a:t>
            </a:r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3,905</a:t>
            </a:r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(Tasa: 63.4)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6456722" y="3855243"/>
            <a:ext cx="1224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MEX: </a:t>
            </a:r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3,202 </a:t>
            </a:r>
          </a:p>
          <a:p>
            <a:pPr algn="ctr"/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(Tasa: 18.9)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8383991" y="3855243"/>
            <a:ext cx="1081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CHIH: </a:t>
            </a:r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2,287 </a:t>
            </a:r>
          </a:p>
          <a:p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(Tasa: 61.1)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10141058" y="3855243"/>
            <a:ext cx="121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BC: </a:t>
            </a:r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2,236</a:t>
            </a:r>
            <a:r>
              <a:rPr lang="es-MX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es-MX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(Tasa: 60.0)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5397432" y="811960"/>
            <a:ext cx="2494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Homicidios totales por estado</a:t>
            </a:r>
            <a:endParaRPr lang="es-MX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07494" y="832023"/>
            <a:ext cx="24947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Tasa de homicidios por cada 100 mil habitantes</a:t>
            </a:r>
            <a:endParaRPr lang="es-MX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303560" y="3571006"/>
            <a:ext cx="390417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 smtClean="0">
                <a:latin typeface="Arial Narrow" panose="020B0606020202030204" pitchFamily="34" charset="0"/>
              </a:rPr>
              <a:t>Los homicidios se concentran principalmente en Guanajuato, Estado de México, Chihuahua, Baja California y Jalisco, que </a:t>
            </a:r>
            <a:r>
              <a:rPr lang="es-MX" sz="1000" b="1" dirty="0" smtClean="0">
                <a:latin typeface="Arial Narrow" panose="020B0606020202030204" pitchFamily="34" charset="0"/>
              </a:rPr>
              <a:t>juntos representan el 41.5% del total nacional</a:t>
            </a:r>
            <a:r>
              <a:rPr lang="es-MX" sz="1000" dirty="0" smtClean="0">
                <a:latin typeface="Arial Narrow" panose="020B0606020202030204" pitchFamily="34" charset="0"/>
              </a:rPr>
              <a:t>.</a:t>
            </a:r>
            <a:endParaRPr lang="es-MX" sz="1000" b="1" dirty="0" smtClean="0">
              <a:latin typeface="Arial Narrow" panose="020B0606020202030204" pitchFamily="34" charset="0"/>
            </a:endParaRP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r>
              <a:rPr lang="es-MX" sz="1000" dirty="0" smtClean="0">
                <a:latin typeface="Arial Narrow" panose="020B0606020202030204" pitchFamily="34" charset="0"/>
              </a:rPr>
              <a:t>En términos de tasas por 100 mil habitantes, </a:t>
            </a:r>
            <a:r>
              <a:rPr lang="es-MX" sz="1000" b="1" dirty="0" smtClean="0">
                <a:latin typeface="Arial Narrow" panose="020B0606020202030204" pitchFamily="34" charset="0"/>
              </a:rPr>
              <a:t>Colima</a:t>
            </a:r>
            <a:r>
              <a:rPr lang="es-MX" sz="1000" dirty="0" smtClean="0">
                <a:latin typeface="Arial Narrow" panose="020B0606020202030204" pitchFamily="34" charset="0"/>
              </a:rPr>
              <a:t> destaca como un </a:t>
            </a:r>
            <a:r>
              <a:rPr lang="es-MX" sz="1000" b="1" dirty="0" smtClean="0">
                <a:latin typeface="Arial Narrow" panose="020B0606020202030204" pitchFamily="34" charset="0"/>
              </a:rPr>
              <a:t>caso extremo, </a:t>
            </a:r>
            <a:r>
              <a:rPr lang="es-MX" sz="1000" dirty="0" smtClean="0">
                <a:latin typeface="Arial Narrow" panose="020B0606020202030204" pitchFamily="34" charset="0"/>
              </a:rPr>
              <a:t>con 112.3, </a:t>
            </a:r>
            <a:r>
              <a:rPr lang="es-MX" sz="1000" b="1" dirty="0" smtClean="0">
                <a:latin typeface="Arial Narrow" panose="020B0606020202030204" pitchFamily="34" charset="0"/>
              </a:rPr>
              <a:t>más de tres veces el promedio nacional.</a:t>
            </a: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r>
              <a:rPr lang="es-MX" sz="1000" dirty="0" smtClean="0">
                <a:latin typeface="Arial Narrow" panose="020B0606020202030204" pitchFamily="34" charset="0"/>
              </a:rPr>
              <a:t>La incidencia de homicidios sigue una clara dinámica territorial. En Guanajuato, se concentran en </a:t>
            </a:r>
            <a:r>
              <a:rPr lang="es-MX" sz="1000" b="1" dirty="0" smtClean="0">
                <a:latin typeface="Arial Narrow" panose="020B0606020202030204" pitchFamily="34" charset="0"/>
              </a:rPr>
              <a:t>León</a:t>
            </a:r>
            <a:r>
              <a:rPr lang="es-MX" sz="1000" dirty="0" smtClean="0">
                <a:latin typeface="Arial Narrow" panose="020B0606020202030204" pitchFamily="34" charset="0"/>
              </a:rPr>
              <a:t>, </a:t>
            </a:r>
            <a:r>
              <a:rPr lang="es-MX" sz="1000" b="1" dirty="0" smtClean="0">
                <a:latin typeface="Arial Narrow" panose="020B0606020202030204" pitchFamily="34" charset="0"/>
              </a:rPr>
              <a:t>Irapuato</a:t>
            </a:r>
            <a:r>
              <a:rPr lang="es-MX" sz="1000" dirty="0" smtClean="0">
                <a:latin typeface="Arial Narrow" panose="020B0606020202030204" pitchFamily="34" charset="0"/>
              </a:rPr>
              <a:t>, </a:t>
            </a:r>
            <a:r>
              <a:rPr lang="es-MX" sz="1000" b="1" dirty="0" smtClean="0">
                <a:latin typeface="Arial Narrow" panose="020B0606020202030204" pitchFamily="34" charset="0"/>
              </a:rPr>
              <a:t>Salamanca</a:t>
            </a:r>
            <a:r>
              <a:rPr lang="es-MX" sz="1000" dirty="0" smtClean="0">
                <a:latin typeface="Arial Narrow" panose="020B0606020202030204" pitchFamily="34" charset="0"/>
              </a:rPr>
              <a:t> y </a:t>
            </a:r>
            <a:r>
              <a:rPr lang="es-MX" sz="1000" b="1" dirty="0" smtClean="0">
                <a:latin typeface="Arial Narrow" panose="020B0606020202030204" pitchFamily="34" charset="0"/>
              </a:rPr>
              <a:t>Celaya</a:t>
            </a:r>
            <a:r>
              <a:rPr lang="es-MX" sz="1000" dirty="0" smtClean="0">
                <a:latin typeface="Arial Narrow" panose="020B0606020202030204" pitchFamily="34" charset="0"/>
              </a:rPr>
              <a:t>, siendo esta última la ciudad con la mayor tasa estatal (139.5 por 100 mil habitantes).</a:t>
            </a: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r>
              <a:rPr lang="es-MX" sz="1000" dirty="0" smtClean="0">
                <a:latin typeface="Arial Narrow" panose="020B0606020202030204" pitchFamily="34" charset="0"/>
              </a:rPr>
              <a:t>En el Estado de México, los homicidios se concentran en municipios de la </a:t>
            </a:r>
            <a:r>
              <a:rPr lang="es-MX" sz="1000" b="1" dirty="0" smtClean="0">
                <a:latin typeface="Arial Narrow" panose="020B0606020202030204" pitchFamily="34" charset="0"/>
              </a:rPr>
              <a:t>Zona Metropolitana del Valle de México</a:t>
            </a:r>
            <a:r>
              <a:rPr lang="es-MX" sz="1000" dirty="0" smtClean="0">
                <a:latin typeface="Arial Narrow" panose="020B0606020202030204" pitchFamily="34" charset="0"/>
              </a:rPr>
              <a:t>, donde las tasas superan en más del doble a la de Toluca, la capital del estado.</a:t>
            </a: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r>
              <a:rPr lang="es-MX" sz="1000" dirty="0" smtClean="0">
                <a:latin typeface="Arial Narrow" panose="020B0606020202030204" pitchFamily="34" charset="0"/>
              </a:rPr>
              <a:t>En el norte del país, la concentración se da en </a:t>
            </a:r>
            <a:r>
              <a:rPr lang="es-MX" sz="1000" b="1" dirty="0" smtClean="0">
                <a:latin typeface="Arial Narrow" panose="020B0606020202030204" pitchFamily="34" charset="0"/>
              </a:rPr>
              <a:t>ciudades fronterizas </a:t>
            </a:r>
            <a:r>
              <a:rPr lang="es-MX" sz="1000" dirty="0" smtClean="0">
                <a:latin typeface="Arial Narrow" panose="020B0606020202030204" pitchFamily="34" charset="0"/>
              </a:rPr>
              <a:t>como Ciudad Juárez en Chihuahua y, sobre todo, </a:t>
            </a:r>
            <a:r>
              <a:rPr lang="es-MX" sz="1000" b="1" dirty="0" smtClean="0">
                <a:latin typeface="Arial Narrow" panose="020B0606020202030204" pitchFamily="34" charset="0"/>
              </a:rPr>
              <a:t>Tijuana</a:t>
            </a:r>
            <a:r>
              <a:rPr lang="es-MX" sz="1000" dirty="0" smtClean="0">
                <a:latin typeface="Arial Narrow" panose="020B0606020202030204" pitchFamily="34" charset="0"/>
              </a:rPr>
              <a:t>, que registra el </a:t>
            </a:r>
            <a:r>
              <a:rPr lang="es-MX" sz="1000" b="1" dirty="0" smtClean="0">
                <a:latin typeface="Arial Narrow" panose="020B0606020202030204" pitchFamily="34" charset="0"/>
              </a:rPr>
              <a:t>mayor número de homicidios a nivel nacional</a:t>
            </a:r>
            <a:r>
              <a:rPr lang="es-MX" sz="1000" dirty="0" smtClean="0">
                <a:latin typeface="Arial Narrow" panose="020B0606020202030204" pitchFamily="34" charset="0"/>
              </a:rPr>
              <a:t> y concentra el 74% de los homicidios de la entidad.</a:t>
            </a:r>
            <a:endParaRPr lang="es-MX" sz="1000" dirty="0">
              <a:latin typeface="Arial Narrow" panose="020B0606020202030204" pitchFamily="34" charset="0"/>
            </a:endParaRPr>
          </a:p>
          <a:p>
            <a:endParaRPr lang="es-MX" sz="1000" dirty="0" smtClean="0">
              <a:latin typeface="Arial Narrow" panose="020B0606020202030204" pitchFamily="34" charset="0"/>
            </a:endParaRP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endParaRPr lang="es-MX" sz="1000" dirty="0" smtClean="0">
              <a:latin typeface="Arial Narrow" panose="020B0606020202030204" pitchFamily="34" charset="0"/>
            </a:endParaRPr>
          </a:p>
          <a:p>
            <a:endParaRPr lang="es-MX" sz="1000" dirty="0">
              <a:latin typeface="Arial Narrow" panose="020B0606020202030204" pitchFamily="34" charset="0"/>
            </a:endParaRPr>
          </a:p>
          <a:p>
            <a:endParaRPr lang="es-MX" dirty="0"/>
          </a:p>
        </p:txBody>
      </p:sp>
      <p:sp>
        <p:nvSpPr>
          <p:cNvPr id="24" name="CuadroTexto 23"/>
          <p:cNvSpPr txBox="1"/>
          <p:nvPr/>
        </p:nvSpPr>
        <p:spPr>
          <a:xfrm>
            <a:off x="303560" y="94247"/>
            <a:ext cx="495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>
                <a:latin typeface="Arial Narrow" panose="020B0606020202030204" pitchFamily="34" charset="0"/>
              </a:rPr>
              <a:t>Distribución Territorial</a:t>
            </a:r>
            <a:endParaRPr lang="es-MX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05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658</Words>
  <Application>Microsoft Office PowerPoint</Application>
  <PresentationFormat>Panorámica</PresentationFormat>
  <Paragraphs>37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user</cp:lastModifiedBy>
  <cp:revision>14</cp:revision>
  <dcterms:created xsi:type="dcterms:W3CDTF">2025-12-15T07:34:27Z</dcterms:created>
  <dcterms:modified xsi:type="dcterms:W3CDTF">2025-12-15T08:55:17Z</dcterms:modified>
</cp:coreProperties>
</file>